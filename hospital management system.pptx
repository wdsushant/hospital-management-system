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72"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1853490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895347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2647210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C2B87F-C116-48FE-A620-55D523ADCB38}"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3119652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C2B87F-C116-48FE-A620-55D523ADCB38}" type="datetimeFigureOut">
              <a:rPr lang="en-IN" smtClean="0"/>
              <a:t>23-01-2026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2791425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687368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207073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1672062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2B87F-C116-48FE-A620-55D523ADCB38}"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119363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2B87F-C116-48FE-A620-55D523ADCB38}" type="datetimeFigureOut">
              <a:rPr lang="en-IN" smtClean="0"/>
              <a:t>23-01-2026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4198623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2689506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02807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2195098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3716486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3347069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33419834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2B87F-C116-48FE-A620-55D523ADCB38}" type="datetimeFigureOut">
              <a:rPr lang="en-IN" smtClean="0"/>
              <a:t>23-01-2026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CEF67F-6F51-414A-9BE6-79602E7D1230}" type="slidenum">
              <a:rPr lang="en-IN" smtClean="0"/>
              <a:t>‹#›</a:t>
            </a:fld>
            <a:endParaRPr lang="en-IN"/>
          </a:p>
        </p:txBody>
      </p:sp>
    </p:spTree>
    <p:extLst>
      <p:ext uri="{BB962C8B-B14F-4D97-AF65-F5344CB8AC3E}">
        <p14:creationId xmlns:p14="http://schemas.microsoft.com/office/powerpoint/2010/main" val="844649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FC2B87F-C116-48FE-A620-55D523ADCB38}" type="datetimeFigureOut">
              <a:rPr lang="en-IN" smtClean="0"/>
              <a:t>23-01-2026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CEF67F-6F51-414A-9BE6-79602E7D1230}" type="slidenum">
              <a:rPr lang="en-IN" smtClean="0"/>
              <a:t>‹#›</a:t>
            </a:fld>
            <a:endParaRPr lang="en-IN"/>
          </a:p>
        </p:txBody>
      </p:sp>
    </p:spTree>
    <p:extLst>
      <p:ext uri="{BB962C8B-B14F-4D97-AF65-F5344CB8AC3E}">
        <p14:creationId xmlns:p14="http://schemas.microsoft.com/office/powerpoint/2010/main" val="406764986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3C60-2A4F-3ADB-A00B-B7B6495A2659}"/>
              </a:ext>
            </a:extLst>
          </p:cNvPr>
          <p:cNvSpPr>
            <a:spLocks noGrp="1"/>
          </p:cNvSpPr>
          <p:nvPr>
            <p:ph type="ctrTitle"/>
          </p:nvPr>
        </p:nvSpPr>
        <p:spPr>
          <a:xfrm>
            <a:off x="1154955" y="3136490"/>
            <a:ext cx="8825658" cy="1640891"/>
          </a:xfrm>
        </p:spPr>
        <p:txBody>
          <a:bodyPr anchor="ctr"/>
          <a:lstStyle/>
          <a:p>
            <a:pPr algn="ctr"/>
            <a:r>
              <a:rPr lang="en-US" sz="3200" dirty="0"/>
              <a:t>Hospital Management System</a:t>
            </a:r>
            <a:endParaRPr lang="en-IN" dirty="0"/>
          </a:p>
        </p:txBody>
      </p:sp>
      <p:sp>
        <p:nvSpPr>
          <p:cNvPr id="3" name="Subtitle 2">
            <a:extLst>
              <a:ext uri="{FF2B5EF4-FFF2-40B4-BE49-F238E27FC236}">
                <a16:creationId xmlns:a16="http://schemas.microsoft.com/office/drawing/2014/main" id="{7067979A-C71D-2713-A22B-499C30AACD9D}"/>
              </a:ext>
            </a:extLst>
          </p:cNvPr>
          <p:cNvSpPr>
            <a:spLocks noGrp="1"/>
          </p:cNvSpPr>
          <p:nvPr>
            <p:ph type="subTitle" idx="1"/>
          </p:nvPr>
        </p:nvSpPr>
        <p:spPr/>
        <p:txBody>
          <a:bodyPr/>
          <a:lstStyle/>
          <a:p>
            <a:pPr algn="ctr"/>
            <a:r>
              <a:rPr lang="en-US" dirty="0"/>
              <a:t>BY Sushant Solanki</a:t>
            </a:r>
            <a:endParaRPr lang="en-IN" dirty="0"/>
          </a:p>
        </p:txBody>
      </p:sp>
    </p:spTree>
    <p:extLst>
      <p:ext uri="{BB962C8B-B14F-4D97-AF65-F5344CB8AC3E}">
        <p14:creationId xmlns:p14="http://schemas.microsoft.com/office/powerpoint/2010/main" val="3635853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7055C-5F38-CAFE-5C36-1F2E7F134F42}"/>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818FC09-1639-0175-468B-B5497AE9DA92}"/>
              </a:ext>
            </a:extLst>
          </p:cNvPr>
          <p:cNvSpPr>
            <a:spLocks noGrp="1"/>
          </p:cNvSpPr>
          <p:nvPr>
            <p:ph idx="1"/>
          </p:nvPr>
        </p:nvSpPr>
        <p:spPr/>
        <p:txBody>
          <a:bodyPr>
            <a:normAutofit fontScale="92500" lnSpcReduction="20000"/>
          </a:bodyPr>
          <a:lstStyle/>
          <a:p>
            <a:r>
              <a:rPr lang="en-US" dirty="0"/>
              <a:t>A Hospital Management System (HMS) is a computerized system designed to manage and automate the day-to-day operations of a hospital or healthcare center. It helps in maintaining patient records, doctor details, appointments, billing, treatments, and medical history in a structured and efficient manner.</a:t>
            </a:r>
          </a:p>
          <a:p>
            <a:r>
              <a:rPr lang="en-US" dirty="0"/>
              <a:t>I created this Hospital Management System to understand how real-world healthcare data can be organized, stored, and retrieved efficiently using a database management system (MySQL). This project demonstrates the practical use of SQL concepts such as tables, relationships, joins, subqueries, views, and data manipulation in a real-life scenario.</a:t>
            </a:r>
          </a:p>
          <a:p>
            <a:r>
              <a:rPr lang="en-US" dirty="0"/>
              <a:t>The system reduces manual paperwork, improves data accuracy, saves time, and helps hospital staff access information quickly. It also ensures better coordination between departments like reception, doctors, pharmacy, and billing.</a:t>
            </a:r>
          </a:p>
          <a:p>
            <a:endParaRPr lang="en-IN" dirty="0"/>
          </a:p>
        </p:txBody>
      </p:sp>
    </p:spTree>
    <p:extLst>
      <p:ext uri="{BB962C8B-B14F-4D97-AF65-F5344CB8AC3E}">
        <p14:creationId xmlns:p14="http://schemas.microsoft.com/office/powerpoint/2010/main" val="2710108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DC10A-8ACB-9544-B97E-AA647C5A1B7D}"/>
              </a:ext>
            </a:extLst>
          </p:cNvPr>
          <p:cNvSpPr>
            <a:spLocks noGrp="1"/>
          </p:cNvSpPr>
          <p:nvPr>
            <p:ph type="title"/>
          </p:nvPr>
        </p:nvSpPr>
        <p:spPr/>
        <p:txBody>
          <a:bodyPr/>
          <a:lstStyle/>
          <a:p>
            <a:r>
              <a:rPr lang="en-IN" dirty="0"/>
              <a:t>Problem Definition</a:t>
            </a:r>
          </a:p>
        </p:txBody>
      </p:sp>
      <p:sp>
        <p:nvSpPr>
          <p:cNvPr id="3" name="Content Placeholder 2">
            <a:extLst>
              <a:ext uri="{FF2B5EF4-FFF2-40B4-BE49-F238E27FC236}">
                <a16:creationId xmlns:a16="http://schemas.microsoft.com/office/drawing/2014/main" id="{EE797B08-F976-7C65-663A-E3E5B18A68E1}"/>
              </a:ext>
            </a:extLst>
          </p:cNvPr>
          <p:cNvSpPr>
            <a:spLocks noGrp="1"/>
          </p:cNvSpPr>
          <p:nvPr>
            <p:ph idx="1"/>
          </p:nvPr>
        </p:nvSpPr>
        <p:spPr/>
        <p:txBody>
          <a:bodyPr/>
          <a:lstStyle/>
          <a:p>
            <a:r>
              <a:rPr lang="en-US" dirty="0"/>
              <a:t>In many hospitals, patient and hospital records are still managed manually using paper files or unorganized digital systems. This leads to several problems such as:</a:t>
            </a:r>
          </a:p>
          <a:p>
            <a:r>
              <a:rPr lang="en-US" dirty="0"/>
              <a:t>Difficulty in maintaining </a:t>
            </a:r>
            <a:r>
              <a:rPr lang="en-US" b="1" dirty="0"/>
              <a:t>accurate patient records</a:t>
            </a:r>
            <a:endParaRPr lang="en-US" dirty="0"/>
          </a:p>
          <a:p>
            <a:r>
              <a:rPr lang="en-US" b="1" dirty="0"/>
              <a:t>Time-consuming</a:t>
            </a:r>
            <a:r>
              <a:rPr lang="en-US" dirty="0"/>
              <a:t> search for patient or doctor information</a:t>
            </a:r>
          </a:p>
          <a:p>
            <a:r>
              <a:rPr lang="en-US" dirty="0"/>
              <a:t>Higher chances of </a:t>
            </a:r>
            <a:r>
              <a:rPr lang="en-US" b="1" dirty="0"/>
              <a:t>data duplication and errors</a:t>
            </a:r>
            <a:endParaRPr lang="en-US" dirty="0"/>
          </a:p>
          <a:p>
            <a:r>
              <a:rPr lang="en-US" dirty="0"/>
              <a:t>Poor coordination between departments</a:t>
            </a:r>
          </a:p>
          <a:p>
            <a:r>
              <a:rPr lang="en-US" dirty="0"/>
              <a:t>Lack of proper </a:t>
            </a:r>
            <a:r>
              <a:rPr lang="en-US" b="1" dirty="0"/>
              <a:t>report generation and analysis</a:t>
            </a:r>
            <a:endParaRPr lang="en-US" dirty="0"/>
          </a:p>
          <a:p>
            <a:endParaRPr lang="en-IN" dirty="0"/>
          </a:p>
        </p:txBody>
      </p:sp>
    </p:spTree>
    <p:extLst>
      <p:ext uri="{BB962C8B-B14F-4D97-AF65-F5344CB8AC3E}">
        <p14:creationId xmlns:p14="http://schemas.microsoft.com/office/powerpoint/2010/main" val="4092205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4A7B-139B-675B-035A-E8DE773E8919}"/>
              </a:ext>
            </a:extLst>
          </p:cNvPr>
          <p:cNvSpPr>
            <a:spLocks noGrp="1"/>
          </p:cNvSpPr>
          <p:nvPr>
            <p:ph type="title"/>
          </p:nvPr>
        </p:nvSpPr>
        <p:spPr/>
        <p:txBody>
          <a:bodyPr/>
          <a:lstStyle/>
          <a:p>
            <a:r>
              <a:rPr lang="en-US" sz="3600" dirty="0">
                <a:solidFill>
                  <a:schemeClr val="bg1"/>
                </a:solidFill>
                <a:latin typeface="Arial Black" panose="020B0A04020102020204" pitchFamily="34" charset="0"/>
              </a:rPr>
              <a:t>Display all Doctors</a:t>
            </a:r>
            <a:endParaRPr lang="en-IN" sz="3600" dirty="0">
              <a:solidFill>
                <a:schemeClr val="tx1"/>
              </a:solidFill>
              <a:latin typeface="Arial Black" panose="020B0A04020102020204" pitchFamily="34" charset="0"/>
            </a:endParaRPr>
          </a:p>
        </p:txBody>
      </p:sp>
      <p:pic>
        <p:nvPicPr>
          <p:cNvPr id="5" name="Content Placeholder 4">
            <a:extLst>
              <a:ext uri="{FF2B5EF4-FFF2-40B4-BE49-F238E27FC236}">
                <a16:creationId xmlns:a16="http://schemas.microsoft.com/office/drawing/2014/main" id="{FE19DDC9-CFCC-AFFF-CECC-4BEC3599CF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1066" y="2516753"/>
            <a:ext cx="8011643" cy="3267531"/>
          </a:xfrm>
        </p:spPr>
      </p:pic>
    </p:spTree>
    <p:extLst>
      <p:ext uri="{BB962C8B-B14F-4D97-AF65-F5344CB8AC3E}">
        <p14:creationId xmlns:p14="http://schemas.microsoft.com/office/powerpoint/2010/main" val="1824804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5C950-3AC7-81B2-F45E-C0B22AC499AA}"/>
              </a:ext>
            </a:extLst>
          </p:cNvPr>
          <p:cNvSpPr>
            <a:spLocks noGrp="1"/>
          </p:cNvSpPr>
          <p:nvPr>
            <p:ph type="title"/>
          </p:nvPr>
        </p:nvSpPr>
        <p:spPr/>
        <p:txBody>
          <a:bodyPr/>
          <a:lstStyle/>
          <a:p>
            <a:r>
              <a:rPr lang="en-US" sz="3600" dirty="0"/>
              <a:t>Show all appointments</a:t>
            </a:r>
            <a:endParaRPr lang="en-IN" sz="3600" dirty="0"/>
          </a:p>
        </p:txBody>
      </p:sp>
      <p:pic>
        <p:nvPicPr>
          <p:cNvPr id="5" name="Content Placeholder 4">
            <a:extLst>
              <a:ext uri="{FF2B5EF4-FFF2-40B4-BE49-F238E27FC236}">
                <a16:creationId xmlns:a16="http://schemas.microsoft.com/office/drawing/2014/main" id="{58479145-4735-2FFF-3095-2D6F5C3F2A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313" y="2181438"/>
            <a:ext cx="8947150" cy="3938162"/>
          </a:xfrm>
        </p:spPr>
      </p:pic>
    </p:spTree>
    <p:extLst>
      <p:ext uri="{BB962C8B-B14F-4D97-AF65-F5344CB8AC3E}">
        <p14:creationId xmlns:p14="http://schemas.microsoft.com/office/powerpoint/2010/main" val="419377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9F2C-D548-5BD4-3FE8-A608AC6E9607}"/>
              </a:ext>
            </a:extLst>
          </p:cNvPr>
          <p:cNvSpPr>
            <a:spLocks noGrp="1"/>
          </p:cNvSpPr>
          <p:nvPr>
            <p:ph type="title"/>
          </p:nvPr>
        </p:nvSpPr>
        <p:spPr/>
        <p:txBody>
          <a:bodyPr/>
          <a:lstStyle/>
          <a:p>
            <a:r>
              <a:rPr lang="en-US" sz="3200" dirty="0">
                <a:latin typeface="Arial Black" panose="020B0A04020102020204" pitchFamily="34" charset="0"/>
              </a:rPr>
              <a:t>Display all Patients</a:t>
            </a:r>
            <a:endParaRPr lang="en-IN" sz="32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EF8EE777-AAA8-AB78-268A-F1FC6158A8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313" y="2729889"/>
            <a:ext cx="8947150" cy="2841260"/>
          </a:xfrm>
        </p:spPr>
      </p:pic>
    </p:spTree>
    <p:extLst>
      <p:ext uri="{BB962C8B-B14F-4D97-AF65-F5344CB8AC3E}">
        <p14:creationId xmlns:p14="http://schemas.microsoft.com/office/powerpoint/2010/main" val="38067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31A16-67EE-00EC-5D69-A5BB15A2177F}"/>
              </a:ext>
            </a:extLst>
          </p:cNvPr>
          <p:cNvSpPr>
            <a:spLocks noGrp="1"/>
          </p:cNvSpPr>
          <p:nvPr>
            <p:ph type="title"/>
          </p:nvPr>
        </p:nvSpPr>
        <p:spPr/>
        <p:txBody>
          <a:bodyPr/>
          <a:lstStyle/>
          <a:p>
            <a:r>
              <a:rPr lang="en-US" sz="3200" dirty="0"/>
              <a:t>Display Patient gender and name</a:t>
            </a:r>
            <a:endParaRPr lang="en-IN" sz="3200" dirty="0"/>
          </a:p>
        </p:txBody>
      </p:sp>
      <p:pic>
        <p:nvPicPr>
          <p:cNvPr id="5" name="Content Placeholder 4">
            <a:extLst>
              <a:ext uri="{FF2B5EF4-FFF2-40B4-BE49-F238E27FC236}">
                <a16:creationId xmlns:a16="http://schemas.microsoft.com/office/drawing/2014/main" id="{7A386AC6-5895-2F7D-09CD-BCEF87CBB6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409" y="1718240"/>
            <a:ext cx="9928282" cy="4436753"/>
          </a:xfrm>
        </p:spPr>
      </p:pic>
    </p:spTree>
    <p:extLst>
      <p:ext uri="{BB962C8B-B14F-4D97-AF65-F5344CB8AC3E}">
        <p14:creationId xmlns:p14="http://schemas.microsoft.com/office/powerpoint/2010/main" val="2202588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5770-BDAF-3941-8110-6C34D31DF3F2}"/>
              </a:ext>
            </a:extLst>
          </p:cNvPr>
          <p:cNvSpPr>
            <a:spLocks noGrp="1"/>
          </p:cNvSpPr>
          <p:nvPr>
            <p:ph type="title"/>
          </p:nvPr>
        </p:nvSpPr>
        <p:spPr/>
        <p:txBody>
          <a:bodyPr/>
          <a:lstStyle/>
          <a:p>
            <a:r>
              <a:rPr lang="en-US" sz="3600" dirty="0"/>
              <a:t>Find all female patients</a:t>
            </a:r>
            <a:endParaRPr lang="en-IN" sz="3600" dirty="0"/>
          </a:p>
        </p:txBody>
      </p:sp>
      <p:pic>
        <p:nvPicPr>
          <p:cNvPr id="5" name="Content Placeholder 4">
            <a:extLst>
              <a:ext uri="{FF2B5EF4-FFF2-40B4-BE49-F238E27FC236}">
                <a16:creationId xmlns:a16="http://schemas.microsoft.com/office/drawing/2014/main" id="{0612911B-E66B-399B-0DE8-E98339E497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1602131"/>
            <a:ext cx="10471351" cy="3490979"/>
          </a:xfrm>
        </p:spPr>
      </p:pic>
    </p:spTree>
    <p:extLst>
      <p:ext uri="{BB962C8B-B14F-4D97-AF65-F5344CB8AC3E}">
        <p14:creationId xmlns:p14="http://schemas.microsoft.com/office/powerpoint/2010/main" val="3020011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F3FB-C7C0-AB4E-E626-7A03AC1652B2}"/>
              </a:ext>
            </a:extLst>
          </p:cNvPr>
          <p:cNvSpPr>
            <a:spLocks noGrp="1"/>
          </p:cNvSpPr>
          <p:nvPr>
            <p:ph type="title"/>
          </p:nvPr>
        </p:nvSpPr>
        <p:spPr/>
        <p:txBody>
          <a:bodyPr/>
          <a:lstStyle/>
          <a:p>
            <a:r>
              <a:rPr lang="en-US" sz="3600" dirty="0"/>
              <a:t>Count total patients</a:t>
            </a:r>
            <a:endParaRPr lang="en-IN" sz="3600" dirty="0"/>
          </a:p>
        </p:txBody>
      </p:sp>
      <p:pic>
        <p:nvPicPr>
          <p:cNvPr id="5" name="Content Placeholder 4">
            <a:extLst>
              <a:ext uri="{FF2B5EF4-FFF2-40B4-BE49-F238E27FC236}">
                <a16:creationId xmlns:a16="http://schemas.microsoft.com/office/drawing/2014/main" id="{FE60F268-C33E-120A-E8A5-E971F77BA4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0289" y="1578079"/>
            <a:ext cx="8978400" cy="4321276"/>
          </a:xfrm>
        </p:spPr>
      </p:pic>
    </p:spTree>
    <p:extLst>
      <p:ext uri="{BB962C8B-B14F-4D97-AF65-F5344CB8AC3E}">
        <p14:creationId xmlns:p14="http://schemas.microsoft.com/office/powerpoint/2010/main" val="1566062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7AFB-36F7-9179-8A5D-8F3FF545182D}"/>
              </a:ext>
            </a:extLst>
          </p:cNvPr>
          <p:cNvSpPr>
            <a:spLocks noGrp="1"/>
          </p:cNvSpPr>
          <p:nvPr>
            <p:ph type="title"/>
          </p:nvPr>
        </p:nvSpPr>
        <p:spPr/>
        <p:txBody>
          <a:bodyPr/>
          <a:lstStyle/>
          <a:p>
            <a:r>
              <a:rPr lang="en-US" sz="3600" dirty="0"/>
              <a:t>Count total doctors</a:t>
            </a:r>
            <a:endParaRPr lang="en-IN" sz="3600" dirty="0"/>
          </a:p>
        </p:txBody>
      </p:sp>
      <p:pic>
        <p:nvPicPr>
          <p:cNvPr id="5" name="Content Placeholder 4">
            <a:extLst>
              <a:ext uri="{FF2B5EF4-FFF2-40B4-BE49-F238E27FC236}">
                <a16:creationId xmlns:a16="http://schemas.microsoft.com/office/drawing/2014/main" id="{817D179B-FD49-B9D5-976F-82F3DED699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4632" y="1400663"/>
            <a:ext cx="9519239" cy="5004619"/>
          </a:xfrm>
        </p:spPr>
      </p:pic>
    </p:spTree>
    <p:extLst>
      <p:ext uri="{BB962C8B-B14F-4D97-AF65-F5344CB8AC3E}">
        <p14:creationId xmlns:p14="http://schemas.microsoft.com/office/powerpoint/2010/main" val="2694193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422A-5A7F-52ED-307C-8A6F2BF38CA7}"/>
              </a:ext>
            </a:extLst>
          </p:cNvPr>
          <p:cNvSpPr>
            <a:spLocks noGrp="1"/>
          </p:cNvSpPr>
          <p:nvPr>
            <p:ph type="title"/>
          </p:nvPr>
        </p:nvSpPr>
        <p:spPr/>
        <p:txBody>
          <a:bodyPr/>
          <a:lstStyle/>
          <a:p>
            <a:r>
              <a:rPr lang="en-US" sz="3600" dirty="0"/>
              <a:t>Update Female patient name</a:t>
            </a:r>
            <a:endParaRPr lang="en-IN" sz="3600" dirty="0"/>
          </a:p>
        </p:txBody>
      </p:sp>
      <p:pic>
        <p:nvPicPr>
          <p:cNvPr id="5" name="Content Placeholder 4">
            <a:extLst>
              <a:ext uri="{FF2B5EF4-FFF2-40B4-BE49-F238E27FC236}">
                <a16:creationId xmlns:a16="http://schemas.microsoft.com/office/drawing/2014/main" id="{6838964B-06BC-D798-39B7-789FFD4BD7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009" y="1699622"/>
            <a:ext cx="9636740" cy="4705660"/>
          </a:xfrm>
        </p:spPr>
      </p:pic>
    </p:spTree>
    <p:extLst>
      <p:ext uri="{BB962C8B-B14F-4D97-AF65-F5344CB8AC3E}">
        <p14:creationId xmlns:p14="http://schemas.microsoft.com/office/powerpoint/2010/main" val="3117037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D1627-0A0A-97C2-C172-76E8E143F5E1}"/>
              </a:ext>
            </a:extLst>
          </p:cNvPr>
          <p:cNvSpPr>
            <a:spLocks noGrp="1"/>
          </p:cNvSpPr>
          <p:nvPr>
            <p:ph type="title"/>
          </p:nvPr>
        </p:nvSpPr>
        <p:spPr/>
        <p:txBody>
          <a:bodyPr/>
          <a:lstStyle/>
          <a:p>
            <a:r>
              <a:rPr lang="en-US" sz="3600" dirty="0"/>
              <a:t>Show doctor by specialization ‘ortho’</a:t>
            </a:r>
            <a:endParaRPr lang="en-IN" sz="3600" dirty="0"/>
          </a:p>
        </p:txBody>
      </p:sp>
      <p:pic>
        <p:nvPicPr>
          <p:cNvPr id="5" name="Content Placeholder 4">
            <a:extLst>
              <a:ext uri="{FF2B5EF4-FFF2-40B4-BE49-F238E27FC236}">
                <a16:creationId xmlns:a16="http://schemas.microsoft.com/office/drawing/2014/main" id="{A26E8E6A-2D17-2C2F-7B6C-E13376F595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7587" y="1470603"/>
            <a:ext cx="10913807" cy="3406197"/>
          </a:xfrm>
        </p:spPr>
      </p:pic>
    </p:spTree>
    <p:extLst>
      <p:ext uri="{BB962C8B-B14F-4D97-AF65-F5344CB8AC3E}">
        <p14:creationId xmlns:p14="http://schemas.microsoft.com/office/powerpoint/2010/main" val="2378613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82119-DDB9-1361-8FF4-052502DBFFDB}"/>
              </a:ext>
            </a:extLst>
          </p:cNvPr>
          <p:cNvSpPr>
            <a:spLocks noGrp="1"/>
          </p:cNvSpPr>
          <p:nvPr>
            <p:ph type="title"/>
          </p:nvPr>
        </p:nvSpPr>
        <p:spPr/>
        <p:txBody>
          <a:bodyPr/>
          <a:lstStyle/>
          <a:p>
            <a:r>
              <a:rPr lang="en-US" sz="3600" dirty="0"/>
              <a:t>Show latest appointments</a:t>
            </a:r>
            <a:endParaRPr lang="en-IN" sz="3600" dirty="0"/>
          </a:p>
        </p:txBody>
      </p:sp>
      <p:pic>
        <p:nvPicPr>
          <p:cNvPr id="5" name="Content Placeholder 4">
            <a:extLst>
              <a:ext uri="{FF2B5EF4-FFF2-40B4-BE49-F238E27FC236}">
                <a16:creationId xmlns:a16="http://schemas.microsoft.com/office/drawing/2014/main" id="{B545AA50-587E-B099-3BAD-8E14C9840A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4487" y="1551380"/>
            <a:ext cx="8947150" cy="3679381"/>
          </a:xfrm>
        </p:spPr>
      </p:pic>
    </p:spTree>
    <p:extLst>
      <p:ext uri="{BB962C8B-B14F-4D97-AF65-F5344CB8AC3E}">
        <p14:creationId xmlns:p14="http://schemas.microsoft.com/office/powerpoint/2010/main" val="233563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9D5E-23DA-5607-DF24-93D111EC6591}"/>
              </a:ext>
            </a:extLst>
          </p:cNvPr>
          <p:cNvSpPr>
            <a:spLocks noGrp="1"/>
          </p:cNvSpPr>
          <p:nvPr>
            <p:ph type="title"/>
          </p:nvPr>
        </p:nvSpPr>
        <p:spPr/>
        <p:txBody>
          <a:bodyPr/>
          <a:lstStyle/>
          <a:p>
            <a:r>
              <a:rPr lang="en-US" sz="3600" dirty="0"/>
              <a:t>Display first three Doctors</a:t>
            </a:r>
            <a:endParaRPr lang="en-IN" sz="3600" dirty="0"/>
          </a:p>
        </p:txBody>
      </p:sp>
      <p:pic>
        <p:nvPicPr>
          <p:cNvPr id="5" name="Content Placeholder 4">
            <a:extLst>
              <a:ext uri="{FF2B5EF4-FFF2-40B4-BE49-F238E27FC236}">
                <a16:creationId xmlns:a16="http://schemas.microsoft.com/office/drawing/2014/main" id="{24DD4400-05A8-CF85-9D44-3BFC66A828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2132593"/>
            <a:ext cx="10156688" cy="2950683"/>
          </a:xfrm>
        </p:spPr>
      </p:pic>
    </p:spTree>
    <p:extLst>
      <p:ext uri="{BB962C8B-B14F-4D97-AF65-F5344CB8AC3E}">
        <p14:creationId xmlns:p14="http://schemas.microsoft.com/office/powerpoint/2010/main" val="3196053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7D381-C5D1-CCB0-89CF-E59D7BDB4DB4}"/>
              </a:ext>
            </a:extLst>
          </p:cNvPr>
          <p:cNvSpPr>
            <a:spLocks noGrp="1"/>
          </p:cNvSpPr>
          <p:nvPr>
            <p:ph type="title"/>
          </p:nvPr>
        </p:nvSpPr>
        <p:spPr/>
        <p:txBody>
          <a:bodyPr/>
          <a:lstStyle/>
          <a:p>
            <a:r>
              <a:rPr lang="en-US" sz="3600" dirty="0"/>
              <a:t>List patients ordered by gender</a:t>
            </a:r>
            <a:endParaRPr lang="en-IN" sz="3600" dirty="0"/>
          </a:p>
        </p:txBody>
      </p:sp>
      <p:pic>
        <p:nvPicPr>
          <p:cNvPr id="5" name="Content Placeholder 4">
            <a:extLst>
              <a:ext uri="{FF2B5EF4-FFF2-40B4-BE49-F238E27FC236}">
                <a16:creationId xmlns:a16="http://schemas.microsoft.com/office/drawing/2014/main" id="{BE806506-C43E-1BEF-840E-306AE4F303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0994" y="1669179"/>
            <a:ext cx="6531328" cy="4080990"/>
          </a:xfrm>
        </p:spPr>
      </p:pic>
    </p:spTree>
    <p:extLst>
      <p:ext uri="{BB962C8B-B14F-4D97-AF65-F5344CB8AC3E}">
        <p14:creationId xmlns:p14="http://schemas.microsoft.com/office/powerpoint/2010/main" val="59727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0701B-41A9-229A-5046-02A08C3C78DF}"/>
              </a:ext>
            </a:extLst>
          </p:cNvPr>
          <p:cNvSpPr>
            <a:spLocks noGrp="1"/>
          </p:cNvSpPr>
          <p:nvPr>
            <p:ph type="title"/>
          </p:nvPr>
        </p:nvSpPr>
        <p:spPr/>
        <p:txBody>
          <a:bodyPr/>
          <a:lstStyle/>
          <a:p>
            <a:r>
              <a:rPr lang="en-US" sz="3600" dirty="0"/>
              <a:t>Display doctor order by availability</a:t>
            </a:r>
            <a:endParaRPr lang="en-IN" sz="3600" dirty="0"/>
          </a:p>
        </p:txBody>
      </p:sp>
      <p:pic>
        <p:nvPicPr>
          <p:cNvPr id="5" name="Content Placeholder 4">
            <a:extLst>
              <a:ext uri="{FF2B5EF4-FFF2-40B4-BE49-F238E27FC236}">
                <a16:creationId xmlns:a16="http://schemas.microsoft.com/office/drawing/2014/main" id="{9486F7BD-3785-B6E2-72C4-08EFB8CAAB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1248" y="1639683"/>
            <a:ext cx="6432955" cy="4195762"/>
          </a:xfrm>
        </p:spPr>
      </p:pic>
    </p:spTree>
    <p:extLst>
      <p:ext uri="{BB962C8B-B14F-4D97-AF65-F5344CB8AC3E}">
        <p14:creationId xmlns:p14="http://schemas.microsoft.com/office/powerpoint/2010/main" val="289167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6F900-C7E9-4694-E0DF-D30B9E95F89C}"/>
              </a:ext>
            </a:extLst>
          </p:cNvPr>
          <p:cNvSpPr>
            <a:spLocks noGrp="1"/>
          </p:cNvSpPr>
          <p:nvPr>
            <p:ph type="title"/>
          </p:nvPr>
        </p:nvSpPr>
        <p:spPr/>
        <p:txBody>
          <a:bodyPr/>
          <a:lstStyle/>
          <a:p>
            <a:r>
              <a:rPr lang="en-US" sz="3600" dirty="0"/>
              <a:t>Display least amount due</a:t>
            </a:r>
            <a:endParaRPr lang="en-IN" sz="3600" dirty="0"/>
          </a:p>
        </p:txBody>
      </p:sp>
      <p:pic>
        <p:nvPicPr>
          <p:cNvPr id="5" name="Content Placeholder 4">
            <a:extLst>
              <a:ext uri="{FF2B5EF4-FFF2-40B4-BE49-F238E27FC236}">
                <a16:creationId xmlns:a16="http://schemas.microsoft.com/office/drawing/2014/main" id="{A53D194E-7D73-21C1-C858-8EC18DE005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1166" y="1248520"/>
            <a:ext cx="6875681" cy="3437841"/>
          </a:xfrm>
        </p:spPr>
      </p:pic>
    </p:spTree>
    <p:extLst>
      <p:ext uri="{BB962C8B-B14F-4D97-AF65-F5344CB8AC3E}">
        <p14:creationId xmlns:p14="http://schemas.microsoft.com/office/powerpoint/2010/main" val="2035803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AD56-E328-180D-41A4-73F47030F63D}"/>
              </a:ext>
            </a:extLst>
          </p:cNvPr>
          <p:cNvSpPr>
            <a:spLocks noGrp="1"/>
          </p:cNvSpPr>
          <p:nvPr>
            <p:ph type="title"/>
          </p:nvPr>
        </p:nvSpPr>
        <p:spPr/>
        <p:txBody>
          <a:bodyPr/>
          <a:lstStyle/>
          <a:p>
            <a:r>
              <a:rPr lang="en-US" sz="3600" dirty="0"/>
              <a:t>Show max bill amount</a:t>
            </a:r>
            <a:endParaRPr lang="en-IN" sz="3600" dirty="0"/>
          </a:p>
        </p:txBody>
      </p:sp>
      <p:pic>
        <p:nvPicPr>
          <p:cNvPr id="5" name="Content Placeholder 4">
            <a:extLst>
              <a:ext uri="{FF2B5EF4-FFF2-40B4-BE49-F238E27FC236}">
                <a16:creationId xmlns:a16="http://schemas.microsoft.com/office/drawing/2014/main" id="{0DACBB2C-1A02-E3C0-BC69-49F3F17FF9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6365" y="1745159"/>
            <a:ext cx="7454156" cy="3367681"/>
          </a:xfrm>
        </p:spPr>
      </p:pic>
    </p:spTree>
    <p:extLst>
      <p:ext uri="{BB962C8B-B14F-4D97-AF65-F5344CB8AC3E}">
        <p14:creationId xmlns:p14="http://schemas.microsoft.com/office/powerpoint/2010/main" val="1681234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4D92-94A3-8728-6AEA-53B2DD9265EF}"/>
              </a:ext>
            </a:extLst>
          </p:cNvPr>
          <p:cNvSpPr>
            <a:spLocks noGrp="1"/>
          </p:cNvSpPr>
          <p:nvPr>
            <p:ph type="title"/>
          </p:nvPr>
        </p:nvSpPr>
        <p:spPr/>
        <p:txBody>
          <a:bodyPr/>
          <a:lstStyle/>
          <a:p>
            <a:r>
              <a:rPr lang="en-US" sz="3600" dirty="0"/>
              <a:t>Show total revenue from billing</a:t>
            </a:r>
            <a:endParaRPr lang="en-IN" sz="3600" dirty="0"/>
          </a:p>
        </p:txBody>
      </p:sp>
      <p:pic>
        <p:nvPicPr>
          <p:cNvPr id="5" name="Content Placeholder 4">
            <a:extLst>
              <a:ext uri="{FF2B5EF4-FFF2-40B4-BE49-F238E27FC236}">
                <a16:creationId xmlns:a16="http://schemas.microsoft.com/office/drawing/2014/main" id="{641C2DD9-CD16-810F-D6D2-12BEBA96F8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2645" y="1707458"/>
            <a:ext cx="6310184" cy="3443083"/>
          </a:xfrm>
        </p:spPr>
      </p:pic>
    </p:spTree>
    <p:extLst>
      <p:ext uri="{BB962C8B-B14F-4D97-AF65-F5344CB8AC3E}">
        <p14:creationId xmlns:p14="http://schemas.microsoft.com/office/powerpoint/2010/main" val="2108822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4461-D5FB-DB0B-47AB-2D924ED446AE}"/>
              </a:ext>
            </a:extLst>
          </p:cNvPr>
          <p:cNvSpPr>
            <a:spLocks noGrp="1"/>
          </p:cNvSpPr>
          <p:nvPr>
            <p:ph type="title"/>
          </p:nvPr>
        </p:nvSpPr>
        <p:spPr/>
        <p:txBody>
          <a:bodyPr/>
          <a:lstStyle/>
          <a:p>
            <a:r>
              <a:rPr lang="en-US" sz="3600" dirty="0"/>
              <a:t>Show average Bill amount</a:t>
            </a:r>
            <a:endParaRPr lang="en-IN" sz="3600" dirty="0"/>
          </a:p>
        </p:txBody>
      </p:sp>
      <p:pic>
        <p:nvPicPr>
          <p:cNvPr id="5" name="Content Placeholder 4">
            <a:extLst>
              <a:ext uri="{FF2B5EF4-FFF2-40B4-BE49-F238E27FC236}">
                <a16:creationId xmlns:a16="http://schemas.microsoft.com/office/drawing/2014/main" id="{A826E346-F822-6C8F-FA19-34220C2788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3108" y="1383282"/>
            <a:ext cx="7780803" cy="3473854"/>
          </a:xfrm>
        </p:spPr>
      </p:pic>
    </p:spTree>
    <p:extLst>
      <p:ext uri="{BB962C8B-B14F-4D97-AF65-F5344CB8AC3E}">
        <p14:creationId xmlns:p14="http://schemas.microsoft.com/office/powerpoint/2010/main" val="2539924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473D5-6540-A7B5-3CB8-9AB392A0ED9C}"/>
              </a:ext>
            </a:extLst>
          </p:cNvPr>
          <p:cNvSpPr>
            <a:spLocks noGrp="1"/>
          </p:cNvSpPr>
          <p:nvPr>
            <p:ph type="title"/>
          </p:nvPr>
        </p:nvSpPr>
        <p:spPr/>
        <p:txBody>
          <a:bodyPr/>
          <a:lstStyle/>
          <a:p>
            <a:r>
              <a:rPr lang="en-US" sz="3600" dirty="0"/>
              <a:t>Display doctor available on Monday and </a:t>
            </a:r>
            <a:r>
              <a:rPr lang="en-US" sz="3600" dirty="0" err="1"/>
              <a:t>saturday</a:t>
            </a:r>
            <a:endParaRPr lang="en-IN" sz="3600" dirty="0"/>
          </a:p>
        </p:txBody>
      </p:sp>
      <p:pic>
        <p:nvPicPr>
          <p:cNvPr id="5" name="Content Placeholder 4">
            <a:extLst>
              <a:ext uri="{FF2B5EF4-FFF2-40B4-BE49-F238E27FC236}">
                <a16:creationId xmlns:a16="http://schemas.microsoft.com/office/drawing/2014/main" id="{2299C692-A12A-D275-5944-73C7E2E409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2191" y="1853248"/>
            <a:ext cx="9430163" cy="4213255"/>
          </a:xfrm>
        </p:spPr>
      </p:pic>
    </p:spTree>
    <p:extLst>
      <p:ext uri="{BB962C8B-B14F-4D97-AF65-F5344CB8AC3E}">
        <p14:creationId xmlns:p14="http://schemas.microsoft.com/office/powerpoint/2010/main" val="4293128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0965-FFFF-D6BA-01FE-517FDD4B8293}"/>
              </a:ext>
            </a:extLst>
          </p:cNvPr>
          <p:cNvSpPr>
            <a:spLocks noGrp="1"/>
          </p:cNvSpPr>
          <p:nvPr>
            <p:ph type="title"/>
          </p:nvPr>
        </p:nvSpPr>
        <p:spPr/>
        <p:txBody>
          <a:bodyPr/>
          <a:lstStyle/>
          <a:p>
            <a:r>
              <a:rPr lang="en-US" sz="3600" dirty="0"/>
              <a:t>Display patients with pending payment recent appointments</a:t>
            </a:r>
            <a:endParaRPr lang="en-IN" sz="3600" dirty="0"/>
          </a:p>
        </p:txBody>
      </p:sp>
      <p:pic>
        <p:nvPicPr>
          <p:cNvPr id="5" name="Content Placeholder 4">
            <a:extLst>
              <a:ext uri="{FF2B5EF4-FFF2-40B4-BE49-F238E27FC236}">
                <a16:creationId xmlns:a16="http://schemas.microsoft.com/office/drawing/2014/main" id="{59CB8A9E-C500-4D8B-EBA9-07EEB02ED7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3151" y="1853248"/>
            <a:ext cx="8262990" cy="4252502"/>
          </a:xfrm>
        </p:spPr>
      </p:pic>
    </p:spTree>
    <p:extLst>
      <p:ext uri="{BB962C8B-B14F-4D97-AF65-F5344CB8AC3E}">
        <p14:creationId xmlns:p14="http://schemas.microsoft.com/office/powerpoint/2010/main" val="216441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0738-9551-8B5C-78D4-CF2C24256524}"/>
              </a:ext>
            </a:extLst>
          </p:cNvPr>
          <p:cNvSpPr>
            <a:spLocks noGrp="1"/>
          </p:cNvSpPr>
          <p:nvPr>
            <p:ph type="title"/>
          </p:nvPr>
        </p:nvSpPr>
        <p:spPr/>
        <p:txBody>
          <a:bodyPr/>
          <a:lstStyle/>
          <a:p>
            <a:r>
              <a:rPr lang="en-US" sz="3600" dirty="0"/>
              <a:t>Doctor who treated patient with pending bills</a:t>
            </a:r>
            <a:endParaRPr lang="en-IN" sz="3600" dirty="0"/>
          </a:p>
        </p:txBody>
      </p:sp>
      <p:pic>
        <p:nvPicPr>
          <p:cNvPr id="5" name="Content Placeholder 4">
            <a:extLst>
              <a:ext uri="{FF2B5EF4-FFF2-40B4-BE49-F238E27FC236}">
                <a16:creationId xmlns:a16="http://schemas.microsoft.com/office/drawing/2014/main" id="{38A9063E-2A4A-AE46-56ED-507D76CF74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4709" y="1725430"/>
            <a:ext cx="6735097" cy="4436096"/>
          </a:xfrm>
        </p:spPr>
      </p:pic>
    </p:spTree>
    <p:extLst>
      <p:ext uri="{BB962C8B-B14F-4D97-AF65-F5344CB8AC3E}">
        <p14:creationId xmlns:p14="http://schemas.microsoft.com/office/powerpoint/2010/main" val="46515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1919D-C2BA-734C-A2A6-F6422A07B19E}"/>
              </a:ext>
            </a:extLst>
          </p:cNvPr>
          <p:cNvSpPr>
            <a:spLocks noGrp="1"/>
          </p:cNvSpPr>
          <p:nvPr>
            <p:ph type="title"/>
          </p:nvPr>
        </p:nvSpPr>
        <p:spPr/>
        <p:txBody>
          <a:bodyPr/>
          <a:lstStyle/>
          <a:p>
            <a:r>
              <a:rPr lang="en-US" sz="3600" dirty="0"/>
              <a:t>Patient whose bill is higher than their own average bill</a:t>
            </a:r>
            <a:endParaRPr lang="en-IN" sz="3600" dirty="0"/>
          </a:p>
        </p:txBody>
      </p:sp>
      <p:pic>
        <p:nvPicPr>
          <p:cNvPr id="5" name="Content Placeholder 4">
            <a:extLst>
              <a:ext uri="{FF2B5EF4-FFF2-40B4-BE49-F238E27FC236}">
                <a16:creationId xmlns:a16="http://schemas.microsoft.com/office/drawing/2014/main" id="{40BFDCBA-94BB-62E7-D271-1611FD6C88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5620" y="2073779"/>
            <a:ext cx="5982535" cy="4153480"/>
          </a:xfrm>
        </p:spPr>
      </p:pic>
    </p:spTree>
    <p:extLst>
      <p:ext uri="{BB962C8B-B14F-4D97-AF65-F5344CB8AC3E}">
        <p14:creationId xmlns:p14="http://schemas.microsoft.com/office/powerpoint/2010/main" val="1952381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5BE57-27AD-9915-6554-167A3D4729E1}"/>
              </a:ext>
            </a:extLst>
          </p:cNvPr>
          <p:cNvSpPr>
            <a:spLocks noGrp="1"/>
          </p:cNvSpPr>
          <p:nvPr>
            <p:ph type="title"/>
          </p:nvPr>
        </p:nvSpPr>
        <p:spPr/>
        <p:txBody>
          <a:bodyPr/>
          <a:lstStyle/>
          <a:p>
            <a:r>
              <a:rPr lang="en-US" sz="3600" dirty="0"/>
              <a:t>Doctor who  never had an appointment </a:t>
            </a:r>
            <a:endParaRPr lang="en-IN" sz="3600" dirty="0"/>
          </a:p>
        </p:txBody>
      </p:sp>
      <p:pic>
        <p:nvPicPr>
          <p:cNvPr id="5" name="Content Placeholder 4">
            <a:extLst>
              <a:ext uri="{FF2B5EF4-FFF2-40B4-BE49-F238E27FC236}">
                <a16:creationId xmlns:a16="http://schemas.microsoft.com/office/drawing/2014/main" id="{A1142663-46DE-69C0-4C7F-E9F2B3A8E9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2394" y="1853248"/>
            <a:ext cx="7919863" cy="4594000"/>
          </a:xfrm>
        </p:spPr>
      </p:pic>
    </p:spTree>
    <p:extLst>
      <p:ext uri="{BB962C8B-B14F-4D97-AF65-F5344CB8AC3E}">
        <p14:creationId xmlns:p14="http://schemas.microsoft.com/office/powerpoint/2010/main" val="1224729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3A75E-0277-3DEC-8F4C-D9751FB4154F}"/>
              </a:ext>
            </a:extLst>
          </p:cNvPr>
          <p:cNvSpPr>
            <a:spLocks noGrp="1"/>
          </p:cNvSpPr>
          <p:nvPr>
            <p:ph type="title"/>
          </p:nvPr>
        </p:nvSpPr>
        <p:spPr/>
        <p:txBody>
          <a:bodyPr/>
          <a:lstStyle/>
          <a:p>
            <a:r>
              <a:rPr lang="en-US" sz="3600" dirty="0"/>
              <a:t>Patient who has medical record but no appointments</a:t>
            </a:r>
            <a:endParaRPr lang="en-IN" sz="3600" dirty="0"/>
          </a:p>
        </p:txBody>
      </p:sp>
      <p:pic>
        <p:nvPicPr>
          <p:cNvPr id="5" name="Content Placeholder 4">
            <a:extLst>
              <a:ext uri="{FF2B5EF4-FFF2-40B4-BE49-F238E27FC236}">
                <a16:creationId xmlns:a16="http://schemas.microsoft.com/office/drawing/2014/main" id="{D409DF68-6C58-2A70-32F3-C61DD99ED6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1195" y="2052638"/>
            <a:ext cx="7331385" cy="4195762"/>
          </a:xfrm>
        </p:spPr>
      </p:pic>
    </p:spTree>
    <p:extLst>
      <p:ext uri="{BB962C8B-B14F-4D97-AF65-F5344CB8AC3E}">
        <p14:creationId xmlns:p14="http://schemas.microsoft.com/office/powerpoint/2010/main" val="3828719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71C97-B3E9-7D99-3BD9-41ED188BBCB3}"/>
              </a:ext>
            </a:extLst>
          </p:cNvPr>
          <p:cNvSpPr>
            <a:spLocks noGrp="1"/>
          </p:cNvSpPr>
          <p:nvPr>
            <p:ph type="title"/>
          </p:nvPr>
        </p:nvSpPr>
        <p:spPr/>
        <p:txBody>
          <a:bodyPr/>
          <a:lstStyle/>
          <a:p>
            <a:r>
              <a:rPr lang="en-US" sz="3600" dirty="0"/>
              <a:t>Rank doctor by number of patients treated </a:t>
            </a:r>
            <a:endParaRPr lang="en-IN" sz="3600" dirty="0"/>
          </a:p>
        </p:txBody>
      </p:sp>
      <p:pic>
        <p:nvPicPr>
          <p:cNvPr id="5" name="Content Placeholder 4">
            <a:extLst>
              <a:ext uri="{FF2B5EF4-FFF2-40B4-BE49-F238E27FC236}">
                <a16:creationId xmlns:a16="http://schemas.microsoft.com/office/drawing/2014/main" id="{BE6A20FC-B736-B295-3FB7-1F6B37135E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313" y="2120307"/>
            <a:ext cx="8947150" cy="4060424"/>
          </a:xfrm>
        </p:spPr>
      </p:pic>
    </p:spTree>
    <p:extLst>
      <p:ext uri="{BB962C8B-B14F-4D97-AF65-F5344CB8AC3E}">
        <p14:creationId xmlns:p14="http://schemas.microsoft.com/office/powerpoint/2010/main" val="1093045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D5227-44E4-F0A6-6E8C-EEDC0CC0F583}"/>
              </a:ext>
            </a:extLst>
          </p:cNvPr>
          <p:cNvSpPr>
            <a:spLocks noGrp="1"/>
          </p:cNvSpPr>
          <p:nvPr>
            <p:ph type="title"/>
          </p:nvPr>
        </p:nvSpPr>
        <p:spPr/>
        <p:txBody>
          <a:bodyPr/>
          <a:lstStyle/>
          <a:p>
            <a:r>
              <a:rPr lang="en-US" sz="3600" dirty="0"/>
              <a:t>Create view medical history</a:t>
            </a:r>
            <a:endParaRPr lang="en-IN" sz="3600" dirty="0"/>
          </a:p>
        </p:txBody>
      </p:sp>
      <p:pic>
        <p:nvPicPr>
          <p:cNvPr id="5" name="Content Placeholder 4">
            <a:extLst>
              <a:ext uri="{FF2B5EF4-FFF2-40B4-BE49-F238E27FC236}">
                <a16:creationId xmlns:a16="http://schemas.microsoft.com/office/drawing/2014/main" id="{16B31031-06E8-9197-8AF8-6A36CA8FB7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1857" y="2435779"/>
            <a:ext cx="5630061" cy="3429479"/>
          </a:xfrm>
        </p:spPr>
      </p:pic>
    </p:spTree>
    <p:extLst>
      <p:ext uri="{BB962C8B-B14F-4D97-AF65-F5344CB8AC3E}">
        <p14:creationId xmlns:p14="http://schemas.microsoft.com/office/powerpoint/2010/main" val="408332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F6DE8-DA12-B083-5377-4051239C5182}"/>
              </a:ext>
            </a:extLst>
          </p:cNvPr>
          <p:cNvSpPr>
            <a:spLocks noGrp="1"/>
          </p:cNvSpPr>
          <p:nvPr>
            <p:ph type="title"/>
          </p:nvPr>
        </p:nvSpPr>
        <p:spPr/>
        <p:txBody>
          <a:bodyPr/>
          <a:lstStyle/>
          <a:p>
            <a:r>
              <a:rPr lang="en-US" sz="3600" dirty="0"/>
              <a:t>Create view for pending bills</a:t>
            </a:r>
            <a:endParaRPr lang="en-IN" sz="3600" dirty="0"/>
          </a:p>
        </p:txBody>
      </p:sp>
      <p:pic>
        <p:nvPicPr>
          <p:cNvPr id="5" name="Content Placeholder 4">
            <a:extLst>
              <a:ext uri="{FF2B5EF4-FFF2-40B4-BE49-F238E27FC236}">
                <a16:creationId xmlns:a16="http://schemas.microsoft.com/office/drawing/2014/main" id="{6B8FF742-DE2E-E127-29F6-0EB3A2C425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6056" y="2250493"/>
            <a:ext cx="7306695" cy="1613584"/>
          </a:xfrm>
        </p:spPr>
      </p:pic>
    </p:spTree>
    <p:extLst>
      <p:ext uri="{BB962C8B-B14F-4D97-AF65-F5344CB8AC3E}">
        <p14:creationId xmlns:p14="http://schemas.microsoft.com/office/powerpoint/2010/main" val="2886378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BC49-735E-385D-1ADF-C38669A1B535}"/>
              </a:ext>
            </a:extLst>
          </p:cNvPr>
          <p:cNvSpPr>
            <a:spLocks noGrp="1"/>
          </p:cNvSpPr>
          <p:nvPr>
            <p:ph type="title"/>
          </p:nvPr>
        </p:nvSpPr>
        <p:spPr/>
        <p:txBody>
          <a:bodyPr/>
          <a:lstStyle/>
          <a:p>
            <a:r>
              <a:rPr lang="en-US" sz="3600" dirty="0"/>
              <a:t>Update payment status of patient using view</a:t>
            </a:r>
            <a:endParaRPr lang="en-IN" sz="3600" dirty="0"/>
          </a:p>
        </p:txBody>
      </p:sp>
      <p:pic>
        <p:nvPicPr>
          <p:cNvPr id="5" name="Content Placeholder 4">
            <a:extLst>
              <a:ext uri="{FF2B5EF4-FFF2-40B4-BE49-F238E27FC236}">
                <a16:creationId xmlns:a16="http://schemas.microsoft.com/office/drawing/2014/main" id="{E3AE0A75-4A89-955D-11FC-FA063AD6E7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5807" y="2181984"/>
            <a:ext cx="7886055" cy="2494031"/>
          </a:xfrm>
        </p:spPr>
      </p:pic>
    </p:spTree>
    <p:extLst>
      <p:ext uri="{BB962C8B-B14F-4D97-AF65-F5344CB8AC3E}">
        <p14:creationId xmlns:p14="http://schemas.microsoft.com/office/powerpoint/2010/main" val="109683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B81E8-608C-50D8-41F7-7573E4E0D4B5}"/>
              </a:ext>
            </a:extLst>
          </p:cNvPr>
          <p:cNvSpPr>
            <a:spLocks noGrp="1"/>
          </p:cNvSpPr>
          <p:nvPr>
            <p:ph type="title"/>
          </p:nvPr>
        </p:nvSpPr>
        <p:spPr/>
        <p:txBody>
          <a:bodyPr/>
          <a:lstStyle/>
          <a:p>
            <a:r>
              <a:rPr lang="en-US" sz="3600" dirty="0"/>
              <a:t>Reduce bill amt using view</a:t>
            </a:r>
            <a:endParaRPr lang="en-IN" sz="3600" dirty="0"/>
          </a:p>
        </p:txBody>
      </p:sp>
      <p:pic>
        <p:nvPicPr>
          <p:cNvPr id="5" name="Content Placeholder 4">
            <a:extLst>
              <a:ext uri="{FF2B5EF4-FFF2-40B4-BE49-F238E27FC236}">
                <a16:creationId xmlns:a16="http://schemas.microsoft.com/office/drawing/2014/main" id="{3E52D2D9-282E-3EF7-BA53-4C6DEC67F2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3848" y="1853248"/>
            <a:ext cx="8506986" cy="3338184"/>
          </a:xfrm>
        </p:spPr>
      </p:pic>
    </p:spTree>
    <p:extLst>
      <p:ext uri="{BB962C8B-B14F-4D97-AF65-F5344CB8AC3E}">
        <p14:creationId xmlns:p14="http://schemas.microsoft.com/office/powerpoint/2010/main" val="1681026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9379-4602-15B4-5647-C28D3B6025D6}"/>
              </a:ext>
            </a:extLst>
          </p:cNvPr>
          <p:cNvSpPr>
            <a:spLocks noGrp="1"/>
          </p:cNvSpPr>
          <p:nvPr>
            <p:ph type="title"/>
          </p:nvPr>
        </p:nvSpPr>
        <p:spPr/>
        <p:txBody>
          <a:bodyPr/>
          <a:lstStyle/>
          <a:p>
            <a:r>
              <a:rPr lang="en-US" sz="3600" dirty="0"/>
              <a:t>Check updated data from view</a:t>
            </a:r>
            <a:endParaRPr lang="en-IN" sz="3600" dirty="0"/>
          </a:p>
        </p:txBody>
      </p:sp>
      <p:pic>
        <p:nvPicPr>
          <p:cNvPr id="5" name="Content Placeholder 4">
            <a:extLst>
              <a:ext uri="{FF2B5EF4-FFF2-40B4-BE49-F238E27FC236}">
                <a16:creationId xmlns:a16="http://schemas.microsoft.com/office/drawing/2014/main" id="{14707D0D-DAA2-D042-E0CF-D68ECB1706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3706" y="1744199"/>
            <a:ext cx="8977128" cy="2945788"/>
          </a:xfrm>
        </p:spPr>
      </p:pic>
    </p:spTree>
    <p:extLst>
      <p:ext uri="{BB962C8B-B14F-4D97-AF65-F5344CB8AC3E}">
        <p14:creationId xmlns:p14="http://schemas.microsoft.com/office/powerpoint/2010/main" val="3306739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A6DE-8DEC-747C-874A-19A86C35447C}"/>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BFA3E70-C6EA-782A-B866-A0C6710B0879}"/>
              </a:ext>
            </a:extLst>
          </p:cNvPr>
          <p:cNvSpPr>
            <a:spLocks noGrp="1"/>
          </p:cNvSpPr>
          <p:nvPr>
            <p:ph idx="1"/>
          </p:nvPr>
        </p:nvSpPr>
        <p:spPr/>
        <p:txBody>
          <a:bodyPr/>
          <a:lstStyle/>
          <a:p>
            <a:r>
              <a:rPr lang="en-US" dirty="0"/>
              <a:t>The Hospital Management System developed in this project successfully demonstrates how database management systems can be used to automate and manage hospital operations efficiently. By using MySQL, the system stores patient, doctor, appointment, treatment, and billing information in a structured and organized manner.</a:t>
            </a:r>
          </a:p>
          <a:p>
            <a:r>
              <a:rPr lang="en-US" dirty="0"/>
              <a:t>This project reduces manual paperwork, minimizes data redundancy, and improves data accuracy. It allows quick retrieval of information through SQL queries and provides better coordination between different hospital departments. The use of concepts such as tables, relationships, joins, and views helped in understanding real-world database design and implementation.</a:t>
            </a:r>
          </a:p>
          <a:p>
            <a:endParaRPr lang="en-IN" dirty="0"/>
          </a:p>
        </p:txBody>
      </p:sp>
    </p:spTree>
    <p:extLst>
      <p:ext uri="{BB962C8B-B14F-4D97-AF65-F5344CB8AC3E}">
        <p14:creationId xmlns:p14="http://schemas.microsoft.com/office/powerpoint/2010/main" val="5133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A695-482C-21C7-986C-1F7DDF1548BA}"/>
              </a:ext>
            </a:extLst>
          </p:cNvPr>
          <p:cNvSpPr>
            <a:spLocks noGrp="1"/>
          </p:cNvSpPr>
          <p:nvPr>
            <p:ph type="ctrTitle"/>
          </p:nvPr>
        </p:nvSpPr>
        <p:spPr/>
        <p:txBody>
          <a:bodyPr anchor="ctr"/>
          <a:lstStyle/>
          <a:p>
            <a:pPr algn="ctr"/>
            <a:r>
              <a:rPr lang="en-US" sz="4000"/>
              <a:t>Thank You</a:t>
            </a:r>
            <a:endParaRPr lang="en-IN" sz="4000"/>
          </a:p>
        </p:txBody>
      </p:sp>
      <p:sp>
        <p:nvSpPr>
          <p:cNvPr id="3" name="Subtitle 2">
            <a:extLst>
              <a:ext uri="{FF2B5EF4-FFF2-40B4-BE49-F238E27FC236}">
                <a16:creationId xmlns:a16="http://schemas.microsoft.com/office/drawing/2014/main" id="{2E8EAD0F-8829-8D0F-2493-3FA7C6F13A1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874116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83</TotalTime>
  <Words>472</Words>
  <Application>Microsoft Office PowerPoint</Application>
  <PresentationFormat>Widescreen</PresentationFormat>
  <Paragraphs>46</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 Black</vt:lpstr>
      <vt:lpstr>Century Gothic</vt:lpstr>
      <vt:lpstr>Wingdings 3</vt:lpstr>
      <vt:lpstr>Ion</vt:lpstr>
      <vt:lpstr>Hospital Management System</vt:lpstr>
      <vt:lpstr>Introduction</vt:lpstr>
      <vt:lpstr>Problem Definition</vt:lpstr>
      <vt:lpstr>Display all Doctors</vt:lpstr>
      <vt:lpstr>Show all appointments</vt:lpstr>
      <vt:lpstr>Display all Patients</vt:lpstr>
      <vt:lpstr>Display Patient gender and name</vt:lpstr>
      <vt:lpstr>Find all female patients</vt:lpstr>
      <vt:lpstr>Count total patients</vt:lpstr>
      <vt:lpstr>Count total doctors</vt:lpstr>
      <vt:lpstr>Update Female patient name</vt:lpstr>
      <vt:lpstr>Show doctor by specialization ‘ortho’</vt:lpstr>
      <vt:lpstr>Show latest appointments</vt:lpstr>
      <vt:lpstr>Display first three Doctors</vt:lpstr>
      <vt:lpstr>List patients ordered by gender</vt:lpstr>
      <vt:lpstr>Display doctor order by availability</vt:lpstr>
      <vt:lpstr>Display least amount due</vt:lpstr>
      <vt:lpstr>Show max bill amount</vt:lpstr>
      <vt:lpstr>Show total revenue from billing</vt:lpstr>
      <vt:lpstr>Show average Bill amount</vt:lpstr>
      <vt:lpstr>Display doctor available on Monday and saturday</vt:lpstr>
      <vt:lpstr>Display patients with pending payment recent appointments</vt:lpstr>
      <vt:lpstr>Doctor who treated patient with pending bills</vt:lpstr>
      <vt:lpstr>Patient whose bill is higher than their own average bill</vt:lpstr>
      <vt:lpstr>Doctor who  never had an appointment </vt:lpstr>
      <vt:lpstr>Patient who has medical record but no appointments</vt:lpstr>
      <vt:lpstr>Rank doctor by number of patients treated </vt:lpstr>
      <vt:lpstr>Create view medical history</vt:lpstr>
      <vt:lpstr>Create view for pending bills</vt:lpstr>
      <vt:lpstr>Update payment status of patient using view</vt:lpstr>
      <vt:lpstr>Reduce bill amt using view</vt:lpstr>
      <vt:lpstr>Check updated data from view</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Sushant Solanki</dc:creator>
  <cp:lastModifiedBy>Sushant Solanki</cp:lastModifiedBy>
  <cp:revision>2</cp:revision>
  <dcterms:created xsi:type="dcterms:W3CDTF">2026-01-23T07:40:49Z</dcterms:created>
  <dcterms:modified xsi:type="dcterms:W3CDTF">2026-01-23T09:04:18Z</dcterms:modified>
</cp:coreProperties>
</file>